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52fa352d924374" /><Relationship Type="http://schemas.openxmlformats.org/officeDocument/2006/relationships/extended-properties" Target="/docProps/app.xml" Id="R7cc7c20bb90d4567" /><Relationship Type="http://schemas.openxmlformats.org/officeDocument/2006/relationships/officeDocument" Target="/ppt/presentation.xml" Id="R768caefe83d742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e05ccc73cb429b"/>
  </p:sldMasterIdLst>
  <p:notesMasterIdLst>
    <p:notesMasterId xmlns:r="http://schemas.openxmlformats.org/officeDocument/2006/relationships" r:id="R4beb8300c54c4194"/>
  </p:notesMasterIdLst>
  <p:sldIdLst>
    <p:sldId xmlns:r="http://schemas.openxmlformats.org/officeDocument/2006/relationships" id="256" r:id="R537515577908403a"/>
    <p:sldId xmlns:r="http://schemas.openxmlformats.org/officeDocument/2006/relationships" id="257" r:id="Rb0183044f71b4a55"/>
    <p:sldId xmlns:r="http://schemas.openxmlformats.org/officeDocument/2006/relationships" id="258" r:id="R08dfc33da2a34418"/>
    <p:sldId xmlns:r="http://schemas.openxmlformats.org/officeDocument/2006/relationships" id="259" r:id="R1868b7e2a9c244b4"/>
    <p:sldId xmlns:r="http://schemas.openxmlformats.org/officeDocument/2006/relationships" id="260" r:id="R4cf28d0d2a114de2"/>
    <p:sldId xmlns:r="http://schemas.openxmlformats.org/officeDocument/2006/relationships" id="261" r:id="R5bb5208f263a4f48"/>
    <p:sldId xmlns:r="http://schemas.openxmlformats.org/officeDocument/2006/relationships" id="262" r:id="R017519edadbd405f"/>
    <p:sldId xmlns:r="http://schemas.openxmlformats.org/officeDocument/2006/relationships" id="263" r:id="Re6d43cc931ef4c5c"/>
    <p:sldId xmlns:r="http://schemas.openxmlformats.org/officeDocument/2006/relationships" id="264" r:id="Rfb0a269e0b7a4991"/>
    <p:sldId xmlns:r="http://schemas.openxmlformats.org/officeDocument/2006/relationships" id="265" r:id="R4e458f01187947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2b072b981a44ea" /><Relationship Type="http://schemas.openxmlformats.org/officeDocument/2006/relationships/slideMaster" Target="/ppt/slideMasters/slideMaster1.xml" Id="R20e05ccc73cb429b" /><Relationship Type="http://schemas.openxmlformats.org/officeDocument/2006/relationships/notesMaster" Target="/ppt/notesMasters/notesMaster1.xml" Id="R4beb8300c54c4194" /><Relationship Type="http://schemas.openxmlformats.org/officeDocument/2006/relationships/presProps" Target="/ppt/presProps.xml" Id="R5d71f5f7831a4c56" /><Relationship Type="http://schemas.openxmlformats.org/officeDocument/2006/relationships/tableStyles" Target="/ppt/tableStyles.xml" Id="R01cf834013c4489d" /><Relationship Type="http://schemas.openxmlformats.org/officeDocument/2006/relationships/slide" Target="/ppt/slides/slide1.xml" Id="R537515577908403a" /><Relationship Type="http://schemas.openxmlformats.org/officeDocument/2006/relationships/slide" Target="/ppt/slides/slide2.xml" Id="Rb0183044f71b4a55" /><Relationship Type="http://schemas.openxmlformats.org/officeDocument/2006/relationships/slide" Target="/ppt/slides/slide3.xml" Id="R08dfc33da2a34418" /><Relationship Type="http://schemas.openxmlformats.org/officeDocument/2006/relationships/slide" Target="/ppt/slides/slide4.xml" Id="R1868b7e2a9c244b4" /><Relationship Type="http://schemas.openxmlformats.org/officeDocument/2006/relationships/slide" Target="/ppt/slides/slide5.xml" Id="R4cf28d0d2a114de2" /><Relationship Type="http://schemas.openxmlformats.org/officeDocument/2006/relationships/slide" Target="/ppt/slides/slide6.xml" Id="R5bb5208f263a4f48" /><Relationship Type="http://schemas.openxmlformats.org/officeDocument/2006/relationships/slide" Target="/ppt/slides/slide7.xml" Id="R017519edadbd405f" /><Relationship Type="http://schemas.openxmlformats.org/officeDocument/2006/relationships/slide" Target="/ppt/slides/slide8.xml" Id="Re6d43cc931ef4c5c" /><Relationship Type="http://schemas.openxmlformats.org/officeDocument/2006/relationships/slide" Target="/ppt/slides/slide9.xml" Id="Rfb0a269e0b7a4991" /><Relationship Type="http://schemas.openxmlformats.org/officeDocument/2006/relationships/slide" Target="/ppt/slides/slide10.xml" Id="R4e458f01187947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b3592b319f4b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4ea30dd9594049" /><Relationship Type="http://schemas.openxmlformats.org/officeDocument/2006/relationships/notesMaster" Target="/ppt/notesMasters/notesMaster1.xml" Id="R44551078001e48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964ff0e87145df" /><Relationship Type="http://schemas.openxmlformats.org/officeDocument/2006/relationships/notesMaster" Target="/ppt/notesMasters/notesMaster1.xml" Id="R9315ed4f4be643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aa1927c68f4993" /><Relationship Type="http://schemas.openxmlformats.org/officeDocument/2006/relationships/notesMaster" Target="/ppt/notesMasters/notesMaster1.xml" Id="R247b4969a08141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1470b63fa4381" /><Relationship Type="http://schemas.openxmlformats.org/officeDocument/2006/relationships/notesMaster" Target="/ppt/notesMasters/notesMaster1.xml" Id="R543861be92fc47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f8e1ada8414cec" /><Relationship Type="http://schemas.openxmlformats.org/officeDocument/2006/relationships/notesMaster" Target="/ppt/notesMasters/notesMaster1.xml" Id="R4d459d275df04f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303176f59e4c3e" /><Relationship Type="http://schemas.openxmlformats.org/officeDocument/2006/relationships/notesMaster" Target="/ppt/notesMasters/notesMaster1.xml" Id="Ra19b2406961d49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e14754069b402e" /><Relationship Type="http://schemas.openxmlformats.org/officeDocument/2006/relationships/notesMaster" Target="/ppt/notesMasters/notesMaster1.xml" Id="Raf8b7da39da74c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c08eba98e74263" /><Relationship Type="http://schemas.openxmlformats.org/officeDocument/2006/relationships/notesMaster" Target="/ppt/notesMasters/notesMaster1.xml" Id="Rc8bb8d11961b44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308458b8a54f6f" /><Relationship Type="http://schemas.openxmlformats.org/officeDocument/2006/relationships/notesMaster" Target="/ppt/notesMasters/notesMaster1.xml" Id="R6ad8b13f564d41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f79babefc4453e" /><Relationship Type="http://schemas.openxmlformats.org/officeDocument/2006/relationships/notesMaster" Target="/ppt/notesMasters/notesMaster1.xml" Id="R00c36263477f4c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outcome, not a feature list.</a:t>
            </a:r>
          </a:p>
          <a:p xmlns:a="http://schemas.openxmlformats.org/drawingml/2006/main">
            <a:r>
              <a:t>State that today validates the operating model; it is not a production-launch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operational pain in the company’s language.</a:t>
            </a:r>
          </a:p>
          <a:p xmlns:a="http://schemas.openxmlformats.org/drawingml/2006/main">
            <a:r>
              <a:t>Avoid claiming quantified savings until pilot data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why UI polish was deliberately sequenced after operational certainty.</a:t>
            </a:r>
          </a:p>
          <a:p xmlns:a="http://schemas.openxmlformats.org/drawingml/2006/main">
            <a:r>
              <a:t>Do not frame the current UI as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foundation: login, customer dashboard, accident reporting, document uploads, claim timeline, and roles.</a:t>
            </a:r>
          </a:p>
          <a:p xmlns:a="http://schemas.openxmlformats.org/drawingml/2006/main">
            <a:r>
              <a:t>Only demonstrate stable paths with prepared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to make the MD understand the journey, not evaluate navigation depth.</a:t>
            </a:r>
          </a:p>
          <a:p xmlns:a="http://schemas.openxmlformats.org/drawingml/2006/main">
            <a:r>
              <a:t>Switch to staff role only if it is demonstrably 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open the web portal.</a:t>
            </a:r>
          </a:p>
          <a:p xmlns:a="http://schemas.openxmlformats.org/drawingml/2006/main">
            <a:r>
              <a:t>Explain it is designed for dense operations, management oversight, reports, and administration.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direct: the customer-facing journey still needs specific stages before production.</a:t>
            </a:r>
          </a:p>
          <a:p xmlns:a="http://schemas.openxmlformats.org/drawingml/2006/main">
            <a:r>
              <a:t>This is risk management, not a delay.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the web portal runs in parallel after the same workflow is validated.</a:t>
            </a:r>
          </a:p>
          <a:p xmlns:a="http://schemas.openxmlformats.org/drawingml/2006/main">
            <a:r>
              <a:t>Avoid promising calendar dates until scope and resourcing are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after each decision if the MD wants to comment.</a:t>
            </a:r>
          </a:p>
          <a:p xmlns:a="http://schemas.openxmlformats.org/drawingml/2006/main">
            <a:r>
              <a:t>Record the owner and next action for any decision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validation question.</a:t>
            </a:r>
          </a:p>
          <a:p xmlns:a="http://schemas.openxmlformats.org/drawingml/2006/main">
            <a:r>
              <a:t>Ask for the decisions on slide 9 and confirm the next review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b4fbd5988744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fcc87d4d9c46b8" /><Relationship Type="http://schemas.openxmlformats.org/officeDocument/2006/relationships/slideLayout" Target="/ppt/slideLayouts/slideLayout1.xml" Id="Ra58245eee34345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8245eee34345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dc5427b794f16" /><Relationship Type="http://schemas.openxmlformats.org/officeDocument/2006/relationships/notesSlide" Target="/ppt/notesSlides/notesSlide1.xml" Id="R035ad570c2b742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e28232c1b4a96" /><Relationship Type="http://schemas.openxmlformats.org/officeDocument/2006/relationships/notesSlide" Target="/ppt/notesSlides/notesSlide2.xml" Id="Rcc01058ca96d47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590cab6124bb8" /><Relationship Type="http://schemas.openxmlformats.org/officeDocument/2006/relationships/notesSlide" Target="/ppt/notesSlides/notesSlide3.xml" Id="R7b5ee660c7354a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503825d454aa9" /><Relationship Type="http://schemas.openxmlformats.org/officeDocument/2006/relationships/notesSlide" Target="/ppt/notesSlides/notesSlide4.xml" Id="Rfe6bc992daf54e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5862aff344f94" /><Relationship Type="http://schemas.openxmlformats.org/officeDocument/2006/relationships/notesSlide" Target="/ppt/notesSlides/notesSlide5.xml" Id="R00b3e4daf50146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a6df26a5a437d" /><Relationship Type="http://schemas.openxmlformats.org/officeDocument/2006/relationships/notesSlide" Target="/ppt/notesSlides/notesSlide6.xml" Id="Rdbf3a384175c4b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20a272776403b" /><Relationship Type="http://schemas.openxmlformats.org/officeDocument/2006/relationships/notesSlide" Target="/ppt/notesSlides/notesSlide7.xml" Id="Ra12cacf1918341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e353f537e4e73" /><Relationship Type="http://schemas.openxmlformats.org/officeDocument/2006/relationships/notesSlide" Target="/ppt/notesSlides/notesSlide8.xml" Id="R8eba3f58685a4f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456da31454c05" /><Relationship Type="http://schemas.openxmlformats.org/officeDocument/2006/relationships/notesSlide" Target="/ppt/notesSlides/notesSlide9.xml" Id="R2f43550a527f44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db27976044da0" /><Relationship Type="http://schemas.openxmlformats.org/officeDocument/2006/relationships/notesSlide" Target="/ppt/notesSlides/notesSlide10.xml" Id="Rf36b4e55829144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7E0A0E-BFDE-49A7-9883-66CB2186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08148-E825-4191-B670-B6A5007B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BRIEFING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EA341-0F25-4DB6-B750-3533E034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InsureIT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B866D-3531-4C21-BE5E-B5A1BC9F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DCEBF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DCEBFA"/>
                </a:solidFill>
                <a:latin typeface="Aptos Display"/>
                <a:ea typeface="Aptos Display"/>
                <a:cs typeface="Aptos Display"/>
              </a:rPr>
              <a:t>Validate the claims operating model.</a:t>
            </a:r>
          </a:p>
          <a:p xmlns:a="http://schemas.openxmlformats.org/drawingml/2006/main">
            <a:pPr>
              <a:defRPr sz="2325" b="1" i="0">
                <a:solidFill>
                  <a:srgbClr val="DCEBF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DCEBFA"/>
                </a:solidFill>
                <a:latin typeface="Aptos Display"/>
                <a:ea typeface="Aptos Display"/>
                <a:cs typeface="Aptos Display"/>
              </a:rPr>
              <a:t>Then build toward a controlled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81A09-5810-4640-BDF9-2BFB82E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AFC9E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AFC9E5"/>
                </a:solidFill>
                <a:latin typeface="Aptos"/>
                <a:ea typeface="Aptos"/>
                <a:cs typeface="Aptos"/>
              </a:rPr>
              <a:t>Mobile-first commercial vehicle claims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B7BF4-219D-4514-9E5F-F0160B63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38250"/>
            <a:ext cx="3200400" cy="35242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9525">
            <a:solidFill>
              <a:srgbClr val="274E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5D5B5-38A2-4D62-AEDB-55CF5C95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DD3C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DD3C7"/>
                </a:solidFill>
                <a:latin typeface="Aptos"/>
                <a:ea typeface="Aptos"/>
                <a:cs typeface="Aptos"/>
              </a:rPr>
              <a:t>TODAY’S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C463D-69FD-40AF-AF7B-CB63C355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Confirm the workflow,</a:t>
            </a:r>
          </a:p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priorities, pilot users,</a:t>
            </a:r>
          </a:p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and rollout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71CC0-D6C6-49BB-85AC-700E34FE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19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7CBE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B7CBE0"/>
                </a:solidFill>
                <a:latin typeface="Aptos"/>
                <a:ea typeface="Aptos"/>
                <a:cs typeface="Aptos"/>
              </a:rPr>
              <a:t>25–30 minute MD validation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FFB9B-9899-45A8-AB50-DB9C561C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FC9E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9E5"/>
                </a:solidFill>
                <a:latin typeface="Aptos"/>
                <a:ea typeface="Aptos"/>
                <a:cs typeface="Aptos"/>
              </a:rPr>
              <a:t>June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8A5A4-DFA9-48E5-973F-E72725BC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15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INSUREIT</a:t>
            </a:r>
          </a:p>
        </p:txBody>
      </p:sp>
    </p:spTree>
    <p:extLst>
      <p:ext uri="{BB962C8B-B14F-4D97-AF65-F5344CB8AC3E}">
        <p14:creationId xmlns:p14="http://schemas.microsoft.com/office/powerpoint/2010/main" val="101737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7F783-6A9B-4E3F-8CE9-097A396D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475B1-0A46-4EA2-9CEF-A7E029CA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Claims become hard to manage when the journey is fragmented.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F34DD-E7F2-4798-9776-948A75D5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InsureIT creates one operational record from accident reporting through settlement.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05CC3-7829-4286-862C-49987A8C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6732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AD9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DCDDF-BB4E-408C-859F-2D6333DA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8CD80-48C1-47D8-A2B9-C7A243EB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FRICTION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7D8F4-C1B8-4A18-BCE4-F7202516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Today without a unified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27F6E-D2AC-4144-BACB-BC5FDAC9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2936E-F195-4005-9C7A-5B0CB5A4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Information arrives across calls, WhatsApp, and documents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7BD8F-32D1-4A4A-AAFB-204123E8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2B958-D24B-4F58-B0F5-0B7C263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Status ownership is unclear across customer, OPS, and field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6B1CC-2DD8-4DC2-8F14-91CBA35F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9BE01-6A72-430E-98E2-115298DC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33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Follow-ups and pending documents are hard to see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35B86-81C3-48DC-98D0-5E9D0E27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95500"/>
            <a:ext cx="526732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AF6"/>
          </a:solidFill>
          <a:ln xmlns:a="http://schemas.openxmlformats.org/drawingml/2006/main" w="9525">
            <a:solidFill>
              <a:srgbClr val="B6E1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10E63-9F6D-4112-A156-B20E99A0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3431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5D113-3BFE-485C-B3F4-4EF5D75A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0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CONTROLLED JOURNEY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50B67-4D05-4246-BCAE-066ACADC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81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Target operating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919FB-70C8-403A-90D5-FB11C3A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53BEF-76B6-494E-9974-EAE56519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670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 single claim journey, visible to the right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CDBD6-DF9E-43D5-B385-76606EC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F894E-1802-4B0A-89D6-61CCE4F2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004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Structured documents, tasks, and status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54D68-0FF1-4EC8-8990-C5E7CE02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00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9F87D-2F71-43AF-9A42-5881C350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33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Clear next action from accident to settlement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9D1D0-B250-4821-8775-18826850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Business objective: faster coordination, clearer accountability, and a more transparent customer journey.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D2D0C-C49B-43B0-AD7F-5A90C71B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B1CC1-DE07-4EF6-9234-010EBD23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INSUREIT  •  MD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B3E784-6D83-4145-B366-7D09A02B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09069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F119F9-3EE6-4F27-9979-B95F35F7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DELIVERY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AFB9F-29B4-4896-8C7E-268A45E5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We built the operational backbone before visual refinement.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9015C-6699-4AAD-8A65-EFE6DFE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This sequence reduces the risk of polishing an unvalidated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5A198-D73D-41EF-8A0E-4808B3FB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238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9BC6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9C246-13DB-40F0-B913-786502CD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C49D7-963B-42DD-BAD4-C0BB7697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533A0-00D2-43B9-B845-D6AE1BDF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Operational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C6F1F-63E8-421E-8D16-596AE28C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Roles, customer/vehicle/policy records, claims, documents, statuses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67386-BC17-4EDA-81E4-7BC3809E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718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36834-8F5A-4C3F-9DAE-59E375CD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238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8F84A-ED24-4AF1-8784-3FD3D231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54F50-BAE4-446D-B94A-2D82AA1F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8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208DD-E371-4ABF-9287-380FFCC9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Workflow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EF4BC-9CEB-448E-B58E-87398EAF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Confirm how the business actually handles each stage and exception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D76FD-0DE1-45DE-B123-3948E271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718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D5092-1638-410D-99A9-01AE9BD5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238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DCDB2-B928-4F36-9226-D8762ED3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80132-9FA2-4D2F-B804-19613913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B0165-34A5-4885-9DD8-F18074C0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Experience refinement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AFCE9-0869-4E14-B1F6-13181DD0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Role-specific dashboards, clean mobile UI, and a parallel web operations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155B5-4CCB-416D-BA91-C29208B5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The current mobile app is evidence of the foundation—not the final customer experience.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32FD5-FA67-41E8-9B2B-8C78E7BE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E4E96-8FF7-4978-B74F-3D5FDF38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INSUREIT  •  MD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89D5E-A4DD-4F25-9DE7-1AC5410C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4812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FC7E2C-3D32-41BD-9F09-539F88E8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CURRENT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AC81D-2BCC-4492-9491-5C4C9455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The mobile app already demonstrates the core claims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0D5F7-8355-45A4-A0BB-BF3C090A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The following are in scope today and form the base for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ECF6F-390B-4101-96ED-7389F119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DD9E0-F598-4231-B007-85AD379B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2511B-1744-432E-8EF6-874FF111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955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Identity &amp;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6001B-FCCE-4494-8A08-10EB9F90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Authentication, role routing, and controlled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E5B4D-3874-4284-ADDF-E8DDBA84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5740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C589A-8939-4A77-8426-FBBF0114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33D2B-9DB2-4D57-B50A-8E9A4160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955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Customer master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ABFF3-34B2-45EA-A1B8-0818729A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Customer, vehicle, and policy visibility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E5436-4880-4E22-8F13-36899CF0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FF4EE-7042-4D08-BA36-4BA1A920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FE2F9-EC2E-4CBE-BA8E-FAC6F639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955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Claim intake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51768-849F-4D18-B228-E9085BE5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14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Accident report, location, description, and photo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2C570-7CB5-45BC-9C39-173D8F80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2B63B-83EA-4BEA-8BD4-3017DE3D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E02FE-8183-4522-B2FA-980E9D47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528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Document handling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CC893-F9DF-4C21-BD40-3B0D4FE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Claim document upload and secure 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07DD1-2C45-46BA-98F2-333F965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4ABDE-0FB8-49CA-A071-DDBCFA90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A5CEE-639B-4AAE-985F-77130E57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528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Claim tracking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AF11D-4F87-49F6-91FF-2ADE80D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Status, timeline, and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CBD1F-C152-4204-9D79-9C9FDEE7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9832B-6FC8-4854-BF7D-45692CA6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81AF0-8CC7-46CB-90B1-1FF51C1C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Operations roles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DACEB-8593-4C28-B764-BCC17B98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719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Staff-facing roles and claim processing foundation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B6E17-B314-4E6D-9721-5D2BCC78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666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5FDA73-225B-43C2-883C-7C92B502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666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DEMONSTRABLE TODAY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B55E3B-5337-4FF6-BB15-2FEDC81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67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Use a prepared end-to-end sample claim; avoid presenting unstable or unfinished paths.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89CD83-E7C2-4067-AE30-8425CFDA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288818-E1AA-48B0-BFE4-357D2EE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INSUREIT  •  MD VALIDATION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173953-B408-46F2-B6CB-8271DCF7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3849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A5B7C-0724-4F37-BABE-8F3DE067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LIVE MOBILE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A6BA0-A5E4-4FA0-A278-089E2AC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Show one claim story—not every screen.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67F0A-E84C-4798-9189-4A8B9E99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Target: 10 minutes. Keep the conversation anchored in operational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5766E-F579-41A2-A4AF-8478322D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C9C6D-8BC6-43ED-B43D-0DE276C7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5DA22-6DEF-42FA-9D99-30113C08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05000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Customer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7C2CD-579F-406F-A87B-D0E6379D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Active claim, policies, vehicles, next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6ABAC-3A40-45FA-B1B2-C5E18691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860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64195-8E01-42F8-AE1D-7A8C78DA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0C5D5-B2D6-49B0-98C1-2099CF69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CEB0D-F59D-4AF1-A5E0-80296F2E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574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Report accident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EAF37-74F4-4F49-A861-BCE5F769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765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Vehicle, location, description, photo, claim creation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E9FB6-435D-4F3E-BBDF-B0C3018D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384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630D1-A22C-41D4-8345-95021A7A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552F1-3804-446D-BE77-74F23E36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737BA-B6A3-464C-937F-FCC52378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Upload documents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20683-84EC-483D-87C8-D8A99930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Secure document collection and visibility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38A1B-FB80-4D09-BDFA-CCE2EFC1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909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C6DDF-8DE4-4A8F-A0F3-0290A891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74D6F-692A-4719-81A6-9A0D7014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0DE98-A9CA-40B1-B7A8-3846D466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6242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Track claim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2ABC2-CA68-48DF-9DA4-9A100DA8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8147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Status, timeline, document history,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FBFE6-69BF-44E1-A504-C77683C6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4342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FD9AE-B325-42B4-8D28-70E6742C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22EAF-B8FA-4950-A299-01882A27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039FA-D480-44F8-A401-18837AF7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Internal view (only if stable)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C81AFA-0258-4204-86B4-7410F428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33950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Claim queue, role-controlled access, status 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A237EE-86EA-4D6A-8CBD-8E99E331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2876550" cy="323850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AD9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11EBCE-1E8E-49DA-B8DE-0EF19C61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DEMO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9ECB8-DF01-4CEA-BFDC-B704747F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Do not show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96E20B-A895-4756-92A7-ED35F72E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677B25-895E-4336-85A5-602DEFED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24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Unfinished UI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5D511-2BE3-4EC7-B16E-C1DA2BA2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902DF8-A363-4639-8EA8-AE3D8FE7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24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Empty screens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E1BDDA-3761-4C96-999B-1E57A048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3A86C7-08E2-49E5-BD57-75CD7D16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24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Unstable network paths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09C001-59A2-47B8-ACC5-D671C004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52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787ED0-C7AB-41A8-9DF1-19E38CF9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24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The web portal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A07EC6-ADE8-4C19-863E-3969663C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Keep screenshots or a short recording ready as a fallback.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2B9ED9-1DF6-41A7-A991-D4FE2E67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443F11-2F9C-4FAB-9998-89F03F78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INSUREIT  •  MD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5D450D-53B6-4435-A4E3-D9DF71D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9468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10E1E9-C8E0-45F3-904D-9A496220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POSITIONING UNFINISHED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81021-F321-4C16-8B97-C6A6ABF2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The web portal is intentionally not part of today’s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D5C45-8395-426B-80A4-4AD8C759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It will share the workflow and data model, but needs focused development before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BD488-CB77-41F4-B33E-CBF0F116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9525">
            <a:solidFill>
              <a:srgbClr val="B9D8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CCB5B-883B-48C5-B8BE-6A1C0513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What we show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FBA2E-8519-4BE5-BE06-9E99D9FE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DA284-B37D-4063-8C15-10046BC7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Mobile operating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84CB2-2550-4123-BD7C-19723567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19A88-4C7A-409F-8D4A-FA769808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Validated claim lifecycle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B36B5-F283-45D9-BE8F-A6E16873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9D983-87BF-439D-ACE6-271E3235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Secure data and role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00D87-B752-4C1A-BDC6-CC6DBBBE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7645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AD9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B8A68-BAA0-44DC-9056-5C9670B1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What we position 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07794-4BFA-4FD9-ACF4-23FEAF84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73579-CB18-4EFA-BF4B-D8AAEF1B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Web operations command centre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0ECC2-C1A0-48F8-9BE4-32D340B8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9057D-1C1F-44ED-9D2A-DC71960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48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Dense queues, QC, reporting, 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2798E-5C43-4F2A-BBFC-0412CC82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1F538-04D0-4E1E-90C0-7FDF2D2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624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Same operating model and design language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1AE9B-A341-4AE3-9910-B5DFBC48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Message to the MD: “The web layer is planned against this validated workflow—not being withheld because it has been forgotten.”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6A6B1-D06C-4144-8632-90645CD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ECC89-3668-41E4-8698-F75F2AA4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INSUREIT  •  MD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53EE9-CA74-442D-8BF2-39729D97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6965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7F1C7C-8CD3-4C04-A673-43D21BB8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PRODUCTION COMPLETION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63420-FF6F-46BE-A5B6-217F63A9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The remaining work is more than visual polish.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4A548-B96F-4027-8321-25B51F7E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These gates make the workflow complete, auditable, and ready for a controlled 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D22AE-03A3-41C7-8A09-AB8C7DD1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2385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5E8F5-83E7-47C9-982C-825AF665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D8E75-0161-4453-BDFE-851A2C22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6438F-BC79-4B10-8494-E1652EAE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Workflow completeness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AC6E1-6A52-4DA9-AC21-FE815F92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Dynamic documents, surveyor and insurer updates, approval, re-inspection, DO, payment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21A98-689C-4B19-9B6B-0AEFF51C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2385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0FAF6"/>
          </a:solidFill>
          <a:ln xmlns:a="http://schemas.openxmlformats.org/drawingml/2006/main" w="9525">
            <a:solidFill>
              <a:srgbClr val="B6E1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70B58-9CCE-465F-B649-0E73E4D5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89FD7-D871-4995-8E7B-DFF0853D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EA5EB-0744-4E4A-9C5E-49235A2B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Communication &amp;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2E83E-809F-40C0-8377-347E3689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Customer actions, notifications, request/response history, stronger settlement transparency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D94DE-BDC7-4F8E-8C69-F5498B11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2385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5EECB-A8BA-4EF6-9329-D754AAA3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B0651-42B7-415F-A33A-644852A0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E1A5E-62AB-45F0-A44A-C5AF67F3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Experience &amp; 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BC515-AC03-457E-942A-A942725B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Role-specific UI, edge-case QA, security/data review, internal Android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6E251-53A2-4BBE-A014-6A9D8BC3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A pilot is appropriate after these gates are met—not after superficial visual changes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980DE-CDF7-4A3D-8980-1F090989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9BA1F-3D62-4258-92D1-6483368D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INSUREIT  •  MD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CA05B-827B-4C8B-8F1B-6FBFFEFE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24297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5D42A-0BCD-4B6C-BAEC-A683D34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PATH TO A CONTROLLED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B7295-A77E-4162-B8DC-6AE11E9B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 validation-led 10-week plan, starting after scope confirmation.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9CDAE-489A-4000-A512-8BD2C48D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Timings are estimates dependent on confirmed priorities and operational-user availability.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8882D-1E53-4F14-A368-1773594F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288CB-24C8-4151-B98D-14CBFD7F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80E06-4EEA-4E76-A1D9-DCA0598D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17715-D908-4FC4-8AED-FBF3AD35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Week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CD01E-8D5D-454E-A38A-45113D9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Validate &amp; lock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E06F0-4E60-4A91-8C3A-CCF84DCD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Operating workflow, roles, rollout users, priorities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512EF-DAB4-46CD-A116-7A128068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6F0CD-8755-4D0B-8C2C-9E09C3A2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ADB97-346F-4FA3-A7B9-B95024FD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8ABA3-0BA8-47F0-A2C6-AEF38DD0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Weeks 2–4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7B5E4-56D6-4C3A-B4BF-8BE358AD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Complete lifecycle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90B83-39F9-4EA2-B898-8F87332D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05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Documents, surveyor/insurer, approval/RI, DO/payment, notifications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60C27-12F4-47E9-89E4-682CE111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31DC8-CE28-4142-A1AE-280918D1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20722-AD07-4D9C-AACA-2AE46F90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EBC8D-E6E8-40A3-8110-19126B8C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Weeks 5–6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F4B69-ECC5-4069-BA78-03194DFB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337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Mobile UI &amp;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F50D4-1204-4B9D-9060-6158D369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05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Role-specific polish, data/security review, internal Android 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63651-D933-40BC-8F06-A8A6D496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49F19-EEEB-40D6-B50A-E534C760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2F466-A0FC-4940-AEAC-ED02196C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25E1B-4A11-434C-8CC5-8DBB746A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48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Weeks 5–8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384EB-F207-4DCD-8574-9AB08EFF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Web ops portal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36EBBD-5B94-4D1F-ABC1-6C9F4A78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Queue, command centre, document QC, reporting, administration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54BB30-CBA6-4675-9795-A61920D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5E2905-E368-4AC3-A72B-896E47AF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D2634E-74B3-471C-B48A-483F799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48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Weeks 9–10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BEECC-C6BD-4DA2-BAE4-236ACDEA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337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Pilot &amp; stabilize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5685A1-20AF-4CD8-A86E-1E263124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05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Controlled users, feedback, fixes, rollout decision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834E2A-747E-430B-882B-85A0422F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591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9BC6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07CC3C-1534-4D22-B03D-C088EB5A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Pilot readiness: validated workflow + completed lifecycle gates + internal QA + nominated operational users.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5A7FD1-169D-40DB-8906-54295E3B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25155B-7310-4635-B229-732950C8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INSUREIT  •  MD VALIDATION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047CC7-25C5-4EFA-9809-FA796459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8519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3AC07-08B0-4C05-94CB-261DC55B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DECISIONS REQUESTED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FE311-5809-4CA4-9B9A-AD99E3EC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The next phase needs explicit business direction.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561E9-87C9-4B36-9133-6DB78DD0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Each decision removes uncertainty from the build and pilot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07198-78B2-4BD2-A0EF-2AEE1B96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05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D49DA-C61E-42F9-BC27-35CF7DBB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E2C31-0F52-4CB7-897F-B8BCE263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0502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Validate the operating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52266-7BB0-4ABB-9D1A-966B5987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Confirm claim stages, roles, and ownership.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D28F9-C63B-4D02-BAB4-CB5CBEFE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5105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F9F3A-8C72-4DA6-9384-A84FB19A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44C02-E0A7-4EA2-BAE5-1EBD6D8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0502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Set release priority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F2991-8167-45D9-8065-A8D1DE34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Customer self-service, internal operations, or both equally.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784F7-CD29-4935-8CFE-EEE96608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105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27864-75D7-45CF-90CF-FDE52E96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C8F1B-247E-43AD-B8A9-92FB9564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670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Nominate pilot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DDB02-E3D6-415D-A0A5-27E6D74C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Assign 2–3 operations users for workflow validation and testing.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C51A1-3F6E-4154-B617-2EEF1566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14675"/>
            <a:ext cx="5105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2F126-599C-47A0-A031-BEB3D849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05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80124-0FE0-4EF2-9378-24E418C9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670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Approve controlled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935FF-01FC-421B-8076-62CCFE88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Pilot before public/customer rollout.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4E431-C2DA-4C64-8BB1-698C0A7B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5105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AF6"/>
          </a:solidFill>
          <a:ln xmlns:a="http://schemas.openxmlformats.org/drawingml/2006/main" w="9525">
            <a:solidFill>
              <a:srgbClr val="B6E1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391A1-95B8-4AED-893D-C0419003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7C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55F08-B016-4982-8734-9294C290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2912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Confirm web timing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2D7E6-9885-43E3-B7F4-9F9396D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Required for the pilot, or follows validated mobile workflow.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73792-F790-422E-A78B-07FB465B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409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ACF22-758D-4D58-9754-9822AA6F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MD 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7108D-5E5A-49F1-ACBD-13597C92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00725"/>
            <a:ext cx="790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Outcome sought: a validated operating model and an approved route to pilot.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FC267-242A-4F8E-B277-5534034E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CD8A2-7490-4462-8302-9B831BD9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INSUREIT  •  MD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28559E-A162-42F5-9695-A0035B6F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52677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2677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0159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2C5C08-0FBD-4C39-9B2B-A42A017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3C7C4-CDDA-4315-9862-E1C5E77E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96213-A6B6-4662-82B2-7EC21728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143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question is not whether</a:t>
            </a:r>
          </a:p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screens are final.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5BEB5-B77E-42D8-AD50-551EFCCC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DCEBFA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DCEBFA"/>
                </a:solidFill>
                <a:latin typeface="Aptos"/>
                <a:ea typeface="Aptos"/>
                <a:cs typeface="Aptos"/>
              </a:rPr>
              <a:t>The question is whether this is the claims operating model we want to validate and take to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5DB9D-C94F-4ECC-828C-DB284B74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43000"/>
            <a:ext cx="3048000" cy="35433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9525">
            <a:solidFill>
              <a:srgbClr val="274E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1BD40-0C65-408F-8FF4-8A758780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7DD3C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DD3C7"/>
                </a:solidFill>
                <a:latin typeface="Aptos"/>
                <a:ea typeface="Aptos"/>
                <a:cs typeface="Aptos"/>
              </a:rPr>
              <a:t>AFTER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3CEA2-0688-4A02-8752-981F17E8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1EDFC-B5DD-4623-8EC7-55D209A1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 the customer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CD464-59AE-4CCE-AD38-06F41399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5BD57-F1B2-4F85-86AE-01E322AD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14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the web operations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74F44-005D-41F1-9AEC-3885DA8F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13180-2CBC-4CD3-9BD3-138DF364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with controlled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D4F27-51DC-422A-939E-DB201E75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E6A41-7D4F-40CA-8CE6-F7375004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findings for rollout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C771E-15B7-45AA-9448-86A13D61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7DD3C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7DD3C7"/>
                </a:solidFill>
                <a:latin typeface="Aptos"/>
                <a:ea typeface="Aptos"/>
                <a:cs typeface="Aptos"/>
              </a:rPr>
              <a:t>Decision needed: validate the workflow and authorize the next phase.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B759C-C60A-41B0-BDAD-4A881B7D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15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INSUREIT</a:t>
            </a:r>
          </a:p>
        </p:txBody>
      </p:sp>
    </p:spTree>
    <p:extLst>
      <p:ext uri="{BB962C8B-B14F-4D97-AF65-F5344CB8AC3E}">
        <p14:creationId xmlns:p14="http://schemas.microsoft.com/office/powerpoint/2010/main" val="347912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2026-06-20T04:53:50.4090000Z</dcterms:created>
  <dcterms:modified xsi:type="dcterms:W3CDTF">2026-06-20T04:53:50.4090000Z</dcterms:modified>
</coreProperties>
</file>